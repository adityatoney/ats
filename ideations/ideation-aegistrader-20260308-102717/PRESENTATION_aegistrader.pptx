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FA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Project AegisTrader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0D4AA"/>
                </a:solidFill>
                <a:latin typeface="Calibri"/>
              </a:defRPr>
            </a:pPr>
            <a:r>
              <a:t>Growing Trading Personalities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B0C4DE"/>
                </a:solidFill>
                <a:latin typeface="Calibri"/>
              </a:defRPr>
            </a:pPr>
            <a:r>
              <a:t>Choose a personality. Grow it through experimentation. Coach it to improve.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B93B3"/>
                </a:solidFill>
                <a:latin typeface="Calibri"/>
              </a:defRPr>
            </a:pPr>
            <a:r>
              <a:t>Ideation Session  |  March 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4FA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4FA8F5"/>
                </a:solidFill>
                <a:latin typeface="Calibri"/>
              </a:defRPr>
            </a:pPr>
            <a:r>
              <a:t>Core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79"/>
              </a:lnSpc>
              <a:spcAft>
                <a:spcPts val="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AegisTrader is not a backtesting platform with AI features. It is a platform for growing, experimenting on, and coaching trading personalities. The backtest engine provides credibility. The soul provides the experience.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10515600" cy="128016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D4AA"/>
                </a:solidFill>
                <a:latin typeface="Calibri"/>
              </a:defRPr>
            </a:pPr>
            <a:r>
              <a:t>Governing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79"/>
              </a:lnSpc>
              <a:spcAft>
                <a:spcPts val="0"/>
              </a:spcAft>
              <a:defRPr sz="1700" b="0">
                <a:solidFill>
                  <a:srgbClr val="B0C4DE"/>
                </a:solidFill>
                <a:latin typeface="Calibri"/>
              </a:defRPr>
            </a:pPr>
            <a:r>
              <a:t>"Soul powered by backtest." Every soul claim must trace back to deterministic, reproducible evidence. The engine provides reproducibility and trust. The soul provides meaning and engagement.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515600" cy="640080"/>
          </a:xfrm>
          <a:prstGeom prst="roundRect">
            <a:avLst/>
          </a:prstGeom>
          <a:solidFill>
            <a:srgbClr val="A87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This is a new product category  --  zero market analogs exist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Product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38100"/>
          </a:xfrm>
          <a:prstGeom prst="rect">
            <a:avLst/>
          </a:prstGeom>
          <a:solidFill>
            <a:srgbClr val="4FA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2926080" cy="320040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4FA8F5"/>
                </a:solidFill>
                <a:latin typeface="Calibri"/>
              </a:defRPr>
            </a:pPr>
            <a:r>
              <a:t>1. CHOOSE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Soul as the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4FA8F5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Archetype picker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4FA8F5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Trading philosophy selection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4FA8F5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Seed soul +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291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0D4A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011680"/>
            <a:ext cx="2926080" cy="320040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D4AA"/>
                </a:solidFill>
                <a:latin typeface="Calibri"/>
              </a:defRPr>
            </a:pPr>
            <a:r>
              <a:t>2. GROW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A87CF5"/>
                </a:solidFill>
                <a:latin typeface="Calibri"/>
              </a:defRPr>
            </a:pPr>
            <a:r>
              <a:t>Counterfactual Forking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918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00D4AA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Formative experiences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00D4AA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Trauma tests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00D4AA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Soul forking &amp;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91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0D4A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011680"/>
            <a:ext cx="2926080" cy="320040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A87CF5"/>
                </a:solidFill>
                <a:latin typeface="Calibri"/>
              </a:defRPr>
            </a:pPr>
            <a:r>
              <a:t>3.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59E4F"/>
                </a:solidFill>
                <a:latin typeface="Calibri"/>
              </a:defRPr>
            </a:pPr>
            <a:r>
              <a:t>User as Coach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32918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A87CF5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Review &amp; reflect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A87CF5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Guided coaching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A87CF5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Direct soul surgery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7B93B3"/>
                </a:solidFill>
                <a:latin typeface="Calibri"/>
              </a:defRPr>
            </a:pPr>
            <a:r>
              <a:t>Repeat: Next Run  /  Next Fork  /  Next Coaching 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Move 1: Soul as the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200400" cy="38100"/>
          </a:xfrm>
          <a:prstGeom prst="rect">
            <a:avLst/>
          </a:prstGeom>
          <a:solidFill>
            <a:srgbClr val="4FA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00D4AA"/>
                </a:solidFill>
                <a:latin typeface="Calibri"/>
              </a:defRPr>
            </a:pPr>
            <a:r>
              <a:t>"Grow trading personalities that learn from experience" -- not "backtesting platform with AI agents"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0800" cy="960120"/>
          </a:xfrm>
          <a:prstGeom prst="rect">
            <a:avLst/>
          </a:prstGeom>
          <a:solidFill>
            <a:srgbClr val="4FA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4FA8F5"/>
                </a:solidFill>
                <a:latin typeface="Calibri"/>
              </a:defRPr>
            </a:pPr>
            <a:r>
              <a:t>Archetype Picker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7B93B3"/>
                </a:solidFill>
                <a:latin typeface="Calibri"/>
              </a:defRPr>
            </a:pPr>
            <a:r>
              <a:t>0-2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Choose a trading philosophy: Mean Reversion, Trend Following,</a:t>
            </a:r>
            <a:br/>
            <a:r>
              <a:t>Event-Driven, or Defensive Value. Each = strategy.md + seed soul.md.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54680"/>
            <a:ext cx="50800" cy="9601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Formative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7B93B3"/>
                </a:solidFill>
                <a:latin typeface="Calibri"/>
              </a:defRPr>
            </a:pPr>
            <a:r>
              <a:t>2-5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System runs a compressed 3-6 month backtest through a dramatic</a:t>
            </a:r>
            <a:br/>
            <a:r>
              <a:t>historical period. UI emphasizes soul formation, not PnL.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97680"/>
            <a:ext cx="50800" cy="960120"/>
          </a:xfrm>
          <a:prstGeom prst="rect">
            <a:avLst/>
          </a:prstGeom>
          <a:solidFill>
            <a:srgbClr val="A87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A87CF5"/>
                </a:solidFill>
                <a:latin typeface="Calibri"/>
              </a:defRPr>
            </a:pPr>
            <a:r>
              <a:t>Soul Diff Hero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343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7B93B3"/>
                </a:solidFill>
                <a:latin typeface="Calibri"/>
              </a:defRPr>
            </a:pPr>
            <a:r>
              <a:t>5-10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09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Before/after showing how the agent changed. Every belief</a:t>
            </a:r>
            <a:br/>
            <a:r>
              <a:t>evidence-linked: "Reduces size after consecutive losses -- from losing 12% in week 3."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440680"/>
            <a:ext cx="50800" cy="960120"/>
          </a:xfrm>
          <a:prstGeom prst="rect">
            <a:avLst/>
          </a:prstGeom>
          <a:solidFill>
            <a:srgbClr val="F5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59E4F"/>
                </a:solidFill>
                <a:latin typeface="Calibri"/>
              </a:defRPr>
            </a:pPr>
            <a:r>
              <a:t>Fork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"Want to keep training? Or fork this soul and see what happens</a:t>
            </a:r>
            <a:br/>
            <a:r>
              <a:t>with a different experience?" Bridges to counterfactual forking.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Move 2: Counterfactual Soul Forking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00D4AA"/>
                </a:solidFill>
                <a:latin typeface="Calibri"/>
              </a:defRPr>
            </a:pPr>
            <a:r>
              <a:t>Fork beliefs -- not just trades -- to run "what if" experiments on trading psychology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029200" cy="347472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97280" cy="365760"/>
          </a:xfrm>
          <a:prstGeom prst="roundRect">
            <a:avLst/>
          </a:prstGeom>
          <a:solidFill>
            <a:srgbClr val="4FA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Trauma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4FA8F5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Clone same archetype, different eras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4FA8F5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Bull-market agent: aggressive, naive about drawdowns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4FA8F5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Bear-forged agent: cautious, misses rallies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4FA8F5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Neither is "right" -- divergence is the lesson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4FA8F5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Implementation: same strategy, different time ranges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029200" cy="347472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2194560"/>
            <a:ext cx="914400" cy="365760"/>
          </a:xfrm>
          <a:prstGeom prst="roundRect">
            <a:avLst/>
          </a:prstGeom>
          <a:solidFill>
            <a:srgbClr val="A87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Selective Amnesia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A87CF5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"What if my agent forgot its worst month?"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A87CF5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Remove a period from a mature soul's experience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A87CF5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Re-derive soul from parameterized experience set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A87CF5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Tests whether scars are wisdom or damage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A87CF5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Deep emotional resonance for traders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760720"/>
            <a:ext cx="10515600" cy="640080"/>
          </a:xfrm>
          <a:prstGeom prst="rect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8064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Signature UX: Side-by-side soul comparison -- "Bull-market you believes X. Crash-market you believes Y."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Move 3: User as Coach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A87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00D4AA"/>
                </a:solidFill>
                <a:latin typeface="Calibri"/>
              </a:defRPr>
            </a:pPr>
            <a:r>
              <a:t>The user is a coach developing a trading personality, not an admin approving file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200400" cy="256032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4FA8F5"/>
                </a:solidFill>
                <a:latin typeface="Calibri"/>
              </a:defRPr>
            </a:pPr>
            <a:r>
              <a:t>Let it 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7B93B3"/>
                </a:solidFill>
                <a:latin typeface="Calibri"/>
              </a:defRPr>
            </a:pPr>
            <a:r>
              <a:t>Passive --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Post-game film review. Review soul</a:t>
            </a:r>
            <a:br/>
            <a:r>
              <a:t>diffs after runs. Accept or flag</a:t>
            </a:r>
            <a:br/>
            <a:r>
              <a:t>specific beliefs for revision.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011680"/>
            <a:ext cx="3200400" cy="256032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D4AA"/>
                </a:solidFill>
                <a:latin typeface="Calibri"/>
              </a:defRPr>
            </a:pPr>
            <a:r>
              <a:t>Guided Reflection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7B93B3"/>
                </a:solidFill>
                <a:latin typeface="Calibri"/>
              </a:defRPr>
            </a:pPr>
            <a:r>
              <a:t>Active -- v1.5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260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Natural language coaching before</a:t>
            </a:r>
            <a:br/>
            <a:r>
              <a:t>soul update commits. Shape the</a:t>
            </a:r>
            <a:br/>
            <a:r>
              <a:t>reflection, not the conclusion.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011680"/>
            <a:ext cx="3200400" cy="256032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A87CF5"/>
                </a:solidFill>
                <a:latin typeface="Calibri"/>
              </a:defRPr>
            </a:pPr>
            <a:r>
              <a:t>Soul Surgery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5603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7B93B3"/>
                </a:solidFill>
                <a:latin typeface="Calibri"/>
              </a:defRPr>
            </a:pPr>
            <a:r>
              <a:t>Direct -- MVP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9260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Power-user direct editing of</a:t>
            </a:r>
            <a:br/>
            <a:r>
              <a:t>soul.md/soul.json. Edits tagged</a:t>
            </a:r>
            <a:br/>
            <a:r>
              <a:t>as coach_override.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46320"/>
            <a:ext cx="5029200" cy="146304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59E4F"/>
                </a:solidFill>
                <a:latin typeface="Calibri"/>
              </a:defRPr>
            </a:pPr>
            <a:r>
              <a:t>Soul Studio UI (v2)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03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  <a:defRPr sz="1300">
                <a:solidFill>
                  <a:srgbClr val="B0C4DE"/>
                </a:solidFill>
                <a:latin typeface="Calibri"/>
              </a:defRPr>
            </a:pPr>
            <a:r>
              <a:rPr sz="1300">
                <a:solidFill>
                  <a:srgbClr val="F59E4F"/>
                </a:solidFill>
                <a:latin typeface="Calibri"/>
              </a:rPr>
              <a:t>▸  </a:t>
            </a:r>
            <a:r>
              <a:rPr sz="1300">
                <a:solidFill>
                  <a:srgbClr val="B0C4DE"/>
                </a:solidFill>
                <a:latin typeface="Calibri"/>
              </a:rPr>
              <a:t>Left: Soul Timeline (color-coded by source)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300">
                <a:solidFill>
                  <a:srgbClr val="B0C4DE"/>
                </a:solidFill>
                <a:latin typeface="Calibri"/>
              </a:defRPr>
            </a:pPr>
            <a:r>
              <a:rPr sz="1300">
                <a:solidFill>
                  <a:srgbClr val="F59E4F"/>
                </a:solidFill>
                <a:latin typeface="Calibri"/>
              </a:rPr>
              <a:t>▸  </a:t>
            </a:r>
            <a:r>
              <a:rPr sz="1300">
                <a:solidFill>
                  <a:srgbClr val="B0C4DE"/>
                </a:solidFill>
                <a:latin typeface="Calibri"/>
              </a:rPr>
              <a:t>Center: Belief Cards with confidence + evidence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300">
                <a:solidFill>
                  <a:srgbClr val="B0C4DE"/>
                </a:solidFill>
                <a:latin typeface="Calibri"/>
              </a:defRPr>
            </a:pPr>
            <a:r>
              <a:rPr sz="1300">
                <a:solidFill>
                  <a:srgbClr val="F59E4F"/>
                </a:solidFill>
                <a:latin typeface="Calibri"/>
              </a:rPr>
              <a:t>▸  </a:t>
            </a:r>
            <a:r>
              <a:rPr sz="1300">
                <a:solidFill>
                  <a:srgbClr val="B0C4DE"/>
                </a:solidFill>
                <a:latin typeface="Calibri"/>
              </a:rPr>
              <a:t>Right: Evidence Drawer for any selected belief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846320"/>
            <a:ext cx="5029200" cy="146304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4FF57A"/>
                </a:solidFill>
                <a:latin typeface="Calibri"/>
              </a:defRPr>
            </a:pPr>
            <a:r>
              <a:t>Retention Hook: "Am I a Good Coach?"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303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  <a:defRPr sz="1300">
                <a:solidFill>
                  <a:srgbClr val="B0C4DE"/>
                </a:solidFill>
                <a:latin typeface="Calibri"/>
              </a:defRPr>
            </a:pPr>
            <a:r>
              <a:rPr sz="1300">
                <a:solidFill>
                  <a:srgbClr val="4FF57A"/>
                </a:solidFill>
                <a:latin typeface="Calibri"/>
              </a:rPr>
              <a:t>▸  </a:t>
            </a:r>
            <a:r>
              <a:rPr sz="1300">
                <a:solidFill>
                  <a:srgbClr val="B0C4DE"/>
                </a:solidFill>
                <a:latin typeface="Calibri"/>
              </a:rPr>
              <a:t>Track coached vs organic beliefs over time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300">
                <a:solidFill>
                  <a:srgbClr val="B0C4DE"/>
                </a:solidFill>
                <a:latin typeface="Calibri"/>
              </a:defRPr>
            </a:pPr>
            <a:r>
              <a:rPr sz="1300">
                <a:solidFill>
                  <a:srgbClr val="4FF57A"/>
                </a:solidFill>
                <a:latin typeface="Calibri"/>
              </a:rPr>
              <a:t>▸  </a:t>
            </a:r>
            <a:r>
              <a:rPr sz="1300">
                <a:solidFill>
                  <a:srgbClr val="B0C4DE"/>
                </a:solidFill>
                <a:latin typeface="Calibri"/>
              </a:rPr>
              <a:t>Surface coaching effectiveness metrics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300">
                <a:solidFill>
                  <a:srgbClr val="B0C4DE"/>
                </a:solidFill>
                <a:latin typeface="Calibri"/>
              </a:defRPr>
            </a:pPr>
            <a:r>
              <a:rPr sz="1300">
                <a:solidFill>
                  <a:srgbClr val="4FF57A"/>
                </a:solidFill>
                <a:latin typeface="Calibri"/>
              </a:rPr>
              <a:t>▸  </a:t>
            </a:r>
            <a:r>
              <a:rPr sz="1300">
                <a:solidFill>
                  <a:srgbClr val="B0C4DE"/>
                </a:solidFill>
                <a:latin typeface="Calibri"/>
              </a:rPr>
              <a:t>Per-belief attribution of user intuitions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They Fit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4FA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2926080" cy="502920"/>
          </a:xfrm>
          <a:prstGeom prst="roundRect">
            <a:avLst/>
          </a:prstGeom>
          <a:solidFill>
            <a:srgbClr val="4FA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Archetype Picker  (Move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965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7B93B3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240280"/>
            <a:ext cx="2926080" cy="502920"/>
          </a:xfrm>
          <a:prstGeom prst="roundRect">
            <a:avLst/>
          </a:prstGeom>
          <a:solidFill>
            <a:srgbClr val="4FA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Formative Experience  (Move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7B93B3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017520"/>
            <a:ext cx="2926080" cy="502920"/>
          </a:xfrm>
          <a:prstGeom prst="roundRect">
            <a:avLst/>
          </a:prstGeom>
          <a:solidFill>
            <a:srgbClr val="4FA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Soul Diff Screen  (Move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291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7B93B3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7B93B3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788920"/>
            <a:ext cx="2926080" cy="5029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Fork + Trauma Test  (Move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337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7B93B3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520440"/>
            <a:ext cx="2926080" cy="5029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Soul Comparison  (Move 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3931920"/>
            <a:ext cx="2926080" cy="502920"/>
          </a:xfrm>
          <a:prstGeom prst="roundRect">
            <a:avLst/>
          </a:prstGeom>
          <a:solidFill>
            <a:srgbClr val="A87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Coaching  (Move 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26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4FA8F5"/>
                </a:solidFill>
                <a:latin typeface="Calibri"/>
              </a:defRPr>
            </a:pPr>
            <a:r>
              <a:t>Let it 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00D4AA"/>
                </a:solidFill>
                <a:latin typeface="Calibri"/>
              </a:defRPr>
            </a:pPr>
            <a:r>
              <a:t>Guided Reflection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A87CF5"/>
                </a:solidFill>
                <a:latin typeface="Calibri"/>
              </a:defRPr>
            </a:pPr>
            <a:r>
              <a:t>Soul Surgery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120640"/>
            <a:ext cx="10515600" cy="1280160"/>
          </a:xfrm>
          <a:prstGeom prst="rect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D4AA"/>
                </a:solidFill>
                <a:latin typeface="Calibri"/>
              </a:defRPr>
            </a:pPr>
            <a:r>
              <a:t>The Convergence Screen: Side-by-Side Soul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235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500" b="0">
                <a:solidFill>
                  <a:srgbClr val="B0C4DE"/>
                </a:solidFill>
                <a:latin typeface="Calibri"/>
              </a:defRPr>
            </a:pPr>
            <a:r>
              <a:t>All three moves converge on one screen: see two souls shaped by different experiences, read their divergent beliefs with evidence links, and coach either one. This is the product's defining interaction.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4FA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160020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800" cy="1600200"/>
          </a:xfrm>
          <a:prstGeom prst="rect">
            <a:avLst/>
          </a:prstGeom>
          <a:solidFill>
            <a:srgbClr val="4FA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4475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4FA8F5"/>
                </a:solidFill>
                <a:latin typeface="Calibri"/>
              </a:defRPr>
            </a:pPr>
            <a:r>
              <a:t>Evidence Chain as Shared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  <a:defRPr sz="1300">
                <a:solidFill>
                  <a:srgbClr val="B0C4DE"/>
                </a:solidFill>
                <a:latin typeface="Calibri"/>
              </a:defRPr>
            </a:pPr>
            <a:r>
              <a:rPr sz="1300">
                <a:solidFill>
                  <a:srgbClr val="4FA8F5"/>
                </a:solidFill>
                <a:latin typeface="Calibri"/>
              </a:rPr>
              <a:t>▸  </a:t>
            </a:r>
            <a:r>
              <a:rPr sz="1300">
                <a:solidFill>
                  <a:srgbClr val="B0C4DE"/>
                </a:solidFill>
                <a:latin typeface="Calibri"/>
              </a:rPr>
              <a:t>Every belief in soul.json links to specific trades, branches, and runs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>
                <a:solidFill>
                  <a:srgbClr val="B0C4DE"/>
                </a:solidFill>
                <a:latin typeface="Calibri"/>
              </a:defRPr>
            </a:pPr>
            <a:r>
              <a:rPr sz="1300">
                <a:solidFill>
                  <a:srgbClr val="4FA8F5"/>
                </a:solidFill>
                <a:latin typeface="Calibri"/>
              </a:rPr>
              <a:t>▸  </a:t>
            </a:r>
            <a:r>
              <a:rPr sz="1300">
                <a:solidFill>
                  <a:srgbClr val="B0C4DE"/>
                </a:solidFill>
                <a:latin typeface="Calibri"/>
              </a:rPr>
              <a:t>Structured evidence_refs[]: run_id, trade_ids, branch_comparisons, confidence, source_type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>
                <a:solidFill>
                  <a:srgbClr val="B0C4DE"/>
                </a:solidFill>
                <a:latin typeface="Calibri"/>
              </a:defRPr>
            </a:pPr>
            <a:r>
              <a:rPr sz="1300">
                <a:solidFill>
                  <a:srgbClr val="4FA8F5"/>
                </a:solidFill>
                <a:latin typeface="Calibri"/>
              </a:rPr>
              <a:t>▸  </a:t>
            </a:r>
            <a:r>
              <a:rPr sz="1300">
                <a:solidFill>
                  <a:srgbClr val="B0C4DE"/>
                </a:solidFill>
                <a:latin typeface="Calibri"/>
              </a:rPr>
              <a:t>Enables trustworthy soul diffs, meaningful comparisons, and coaching attribution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>
                <a:solidFill>
                  <a:srgbClr val="B0C4DE"/>
                </a:solidFill>
                <a:latin typeface="Calibri"/>
              </a:defRPr>
            </a:pPr>
            <a:r>
              <a:rPr sz="1300">
                <a:solidFill>
                  <a:srgbClr val="4FA8F5"/>
                </a:solidFill>
                <a:latin typeface="Calibri"/>
              </a:rPr>
              <a:t>▸  </a:t>
            </a:r>
            <a:r>
              <a:rPr sz="1300">
                <a:solidFill>
                  <a:srgbClr val="B0C4DE"/>
                </a:solidFill>
                <a:latin typeface="Calibri"/>
              </a:rPr>
              <a:t>MVP requirement: evidence chain schema must ship in Phase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54680"/>
            <a:ext cx="10515600" cy="160020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154680"/>
            <a:ext cx="50800" cy="1600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Deterministic / Non-Deterministic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  <a:defRPr sz="1300">
                <a:solidFill>
                  <a:srgbClr val="B0C4DE"/>
                </a:solidFill>
                <a:latin typeface="Calibri"/>
              </a:defRPr>
            </a:pPr>
            <a:r>
              <a:rPr sz="1300">
                <a:solidFill>
                  <a:srgbClr val="00D4AA"/>
                </a:solidFill>
                <a:latin typeface="Calibri"/>
              </a:rPr>
              <a:t>▸  </a:t>
            </a:r>
            <a:r>
              <a:rPr sz="1300">
                <a:solidFill>
                  <a:srgbClr val="B0C4DE"/>
                </a:solidFill>
                <a:latin typeface="Calibri"/>
              </a:rPr>
              <a:t>Two-layer architecture preserved from Concept_1.md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>
                <a:solidFill>
                  <a:srgbClr val="B0C4DE"/>
                </a:solidFill>
                <a:latin typeface="Calibri"/>
              </a:defRPr>
            </a:pPr>
            <a:r>
              <a:rPr sz="1300">
                <a:solidFill>
                  <a:srgbClr val="00D4AA"/>
                </a:solidFill>
                <a:latin typeface="Calibri"/>
              </a:rPr>
              <a:t>▸  </a:t>
            </a:r>
            <a:r>
              <a:rPr sz="1300">
                <a:solidFill>
                  <a:srgbClr val="B0C4DE"/>
                </a:solidFill>
                <a:latin typeface="Calibri"/>
              </a:rPr>
              <a:t>Deterministic layer: accepted decisions, account state, fills, branch outcomes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>
                <a:solidFill>
                  <a:srgbClr val="B0C4DE"/>
                </a:solidFill>
                <a:latin typeface="Calibri"/>
              </a:defRPr>
            </a:pPr>
            <a:r>
              <a:rPr sz="1300">
                <a:solidFill>
                  <a:srgbClr val="00D4AA"/>
                </a:solidFill>
                <a:latin typeface="Calibri"/>
              </a:rPr>
              <a:t>▸  </a:t>
            </a:r>
            <a:r>
              <a:rPr sz="1300">
                <a:solidFill>
                  <a:srgbClr val="B0C4DE"/>
                </a:solidFill>
                <a:latin typeface="Calibri"/>
              </a:rPr>
              <a:t>Non-deterministic layer: proposals, annotations, hypotheses, summaries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>
                <a:solidFill>
                  <a:srgbClr val="B0C4DE"/>
                </a:solidFill>
                <a:latin typeface="Calibri"/>
              </a:defRPr>
            </a:pPr>
            <a:r>
              <a:rPr sz="1300">
                <a:solidFill>
                  <a:srgbClr val="00D4AA"/>
                </a:solidFill>
                <a:latin typeface="Calibri"/>
              </a:rPr>
              <a:t>▸  </a:t>
            </a:r>
            <a:r>
              <a:rPr sz="1300">
                <a:solidFill>
                  <a:srgbClr val="B0C4DE"/>
                </a:solidFill>
                <a:latin typeface="Calibri"/>
              </a:rPr>
              <a:t>Coaching operates in non-deterministic layer; hard constraints flow through approval 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937760"/>
            <a:ext cx="10515600" cy="160020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937760"/>
            <a:ext cx="50800" cy="1600200"/>
          </a:xfrm>
          <a:prstGeom prst="rect">
            <a:avLst/>
          </a:prstGeom>
          <a:solidFill>
            <a:srgbClr val="A87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1091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A87CF5"/>
                </a:solidFill>
                <a:latin typeface="Calibri"/>
              </a:defRPr>
            </a:pPr>
            <a:r>
              <a:t>Source Tagging From Day 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4924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  <a:defRPr sz="1300">
                <a:solidFill>
                  <a:srgbClr val="B0C4DE"/>
                </a:solidFill>
                <a:latin typeface="Calibri"/>
              </a:defRPr>
            </a:pPr>
            <a:r>
              <a:rPr sz="1300">
                <a:solidFill>
                  <a:srgbClr val="A87CF5"/>
                </a:solidFill>
                <a:latin typeface="Calibri"/>
              </a:rPr>
              <a:t>▸  </a:t>
            </a:r>
            <a:r>
              <a:rPr sz="1300">
                <a:solidFill>
                  <a:srgbClr val="B0C4DE"/>
                </a:solidFill>
                <a:latin typeface="Calibri"/>
              </a:rPr>
              <a:t>Every belief carries source: self_learned | coach_override | coach_guided | counterfactual_derived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>
                <a:solidFill>
                  <a:srgbClr val="B0C4DE"/>
                </a:solidFill>
                <a:latin typeface="Calibri"/>
              </a:defRPr>
            </a:pPr>
            <a:r>
              <a:rPr sz="1300">
                <a:solidFill>
                  <a:srgbClr val="A87CF5"/>
                </a:solidFill>
                <a:latin typeface="Calibri"/>
              </a:rPr>
              <a:t>▸  </a:t>
            </a:r>
            <a:r>
              <a:rPr sz="1300">
                <a:solidFill>
                  <a:srgbClr val="B0C4DE"/>
                </a:solidFill>
                <a:latin typeface="Calibri"/>
              </a:rPr>
              <a:t>Enables: agent pushback, coaching effectiveness, counterfactual provenance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>
                <a:solidFill>
                  <a:srgbClr val="B0C4DE"/>
                </a:solidFill>
                <a:latin typeface="Calibri"/>
              </a:defRPr>
            </a:pPr>
            <a:r>
              <a:rPr sz="1300">
                <a:solidFill>
                  <a:srgbClr val="A87CF5"/>
                </a:solidFill>
                <a:latin typeface="Calibri"/>
              </a:rPr>
              <a:t>▸  </a:t>
            </a:r>
            <a:r>
              <a:rPr sz="1300">
                <a:solidFill>
                  <a:srgbClr val="B0C4DE"/>
                </a:solidFill>
                <a:latin typeface="Calibri"/>
              </a:rPr>
              <a:t>Non-negotiable MVP decision -- retrofitting provenance is architecturally painful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Competitive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017520" cy="38100"/>
          </a:xfrm>
          <a:prstGeom prst="rect">
            <a:avLst/>
          </a:prstGeom>
          <a:solidFill>
            <a:srgbClr val="4FA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468880" cy="256032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468880" cy="50800"/>
          </a:xfrm>
          <a:prstGeom prst="rect">
            <a:avLst/>
          </a:prstGeom>
          <a:solidFill>
            <a:srgbClr val="4FA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4FA8F5"/>
                </a:solidFill>
                <a:latin typeface="Calibri"/>
              </a:defRPr>
            </a:pPr>
            <a:r>
              <a:t>Deterministic</a:t>
            </a:r>
            <a:br/>
            <a:r>
              <a:t>Simulation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Reproducible, auditable</a:t>
            </a:r>
            <a:br/>
            <a:r>
              <a:t>backtests validated by</a:t>
            </a:r>
            <a:br/>
            <a:r>
              <a:t>NautilusTrader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463040"/>
            <a:ext cx="2468880" cy="256032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463040"/>
            <a:ext cx="24688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45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00D4AA"/>
                </a:solidFill>
                <a:latin typeface="Calibri"/>
              </a:defRPr>
            </a:pPr>
            <a:r>
              <a:t>Evolving</a:t>
            </a:r>
            <a:br/>
            <a:r>
              <a:t>Trading Souls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Versioned, diffable,</a:t>
            </a:r>
            <a:br/>
            <a:r>
              <a:t>evidence-linked agent</a:t>
            </a:r>
            <a:br/>
            <a:r>
              <a:t>doctrine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2468880" cy="256032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468880" cy="50800"/>
          </a:xfrm>
          <a:prstGeom prst="rect">
            <a:avLst/>
          </a:prstGeom>
          <a:solidFill>
            <a:srgbClr val="A87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A87CF5"/>
                </a:solidFill>
                <a:latin typeface="Calibri"/>
              </a:defRPr>
            </a:pPr>
            <a:r>
              <a:t>Branch DAG</a:t>
            </a:r>
            <a:br/>
            <a:r>
              <a:t>as Biography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Git-like history for</a:t>
            </a:r>
            <a:br/>
            <a:r>
              <a:t>both trades and beliefs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463040"/>
            <a:ext cx="2468880" cy="256032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463040"/>
            <a:ext cx="2468880" cy="50800"/>
          </a:xfrm>
          <a:prstGeom prst="rect">
            <a:avLst/>
          </a:prstGeom>
          <a:solidFill>
            <a:srgbClr val="F5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645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59E4F"/>
                </a:solidFill>
                <a:latin typeface="Calibri"/>
              </a:defRPr>
            </a:pPr>
            <a:r>
              <a:t>Coaching</a:t>
            </a:r>
            <a:br/>
            <a:r>
              <a:t>Relationship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4688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User shapes agent</a:t>
            </a:r>
            <a:br/>
            <a:r>
              <a:t>development through</a:t>
            </a:r>
            <a:br/>
            <a:r>
              <a:t>review and guidance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97680"/>
            <a:ext cx="5029200" cy="45720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Zero market analogs for evolving agent doctrine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4297680"/>
            <a:ext cx="5029200" cy="457200"/>
          </a:xfrm>
          <a:prstGeom prst="roundRect">
            <a:avLst/>
          </a:prstGeom>
          <a:solidFill>
            <a:srgbClr val="A87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Zero market analogs for branch DAG biography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29200"/>
            <a:ext cx="10515600" cy="128016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1206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59E4F"/>
                </a:solidFill>
                <a:latin typeface="Calibri"/>
              </a:defRPr>
            </a:pPr>
            <a:r>
              <a:t>Market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4864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F59E4F"/>
                </a:solidFill>
                <a:latin typeface="Calibri"/>
              </a:rPr>
              <a:t>▸  </a:t>
            </a:r>
            <a:r>
              <a:rPr sz="1400" b="0">
                <a:solidFill>
                  <a:srgbClr val="B0C4DE"/>
                </a:solidFill>
                <a:latin typeface="Calibri"/>
              </a:rPr>
              <a:t>Algorithmic trading market: </a:t>
            </a:r>
            <a:r>
              <a:rPr sz="1400" b="1">
                <a:solidFill>
                  <a:srgbClr val="B0C4DE"/>
                </a:solidFill>
                <a:latin typeface="Calibri"/>
              </a:rPr>
              <a:t>$24B</a:t>
            </a:r>
            <a:r>
              <a:rPr sz="1400" b="0">
                <a:solidFill>
                  <a:srgbClr val="B0C4DE"/>
                </a:solidFill>
                <a:latin typeface="Calibri"/>
              </a:rPr>
              <a:t> (2025) projected to </a:t>
            </a:r>
            <a:r>
              <a:rPr sz="1400" b="1">
                <a:solidFill>
                  <a:srgbClr val="B0C4DE"/>
                </a:solidFill>
                <a:latin typeface="Calibri"/>
              </a:rPr>
              <a:t>$44.5B</a:t>
            </a:r>
            <a:r>
              <a:rPr sz="1400" b="0">
                <a:solidFill>
                  <a:srgbClr val="B0C4DE"/>
                </a:solidFill>
                <a:latin typeface="Calibri"/>
              </a:rPr>
              <a:t> (2030), </a:t>
            </a:r>
            <a:r>
              <a:rPr sz="1400" b="1">
                <a:solidFill>
                  <a:srgbClr val="B0C4DE"/>
                </a:solidFill>
                <a:latin typeface="Calibri"/>
              </a:rPr>
              <a:t>13.2% CAGR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F59E4F"/>
                </a:solidFill>
                <a:latin typeface="Calibri"/>
              </a:rPr>
              <a:t>▸  </a:t>
            </a:r>
            <a:r>
              <a:rPr sz="1400">
                <a:solidFill>
                  <a:srgbClr val="B0C4DE"/>
                </a:solidFill>
                <a:latin typeface="Calibri"/>
              </a:rPr>
              <a:t>AegisTrader targets the research-oriented builder segment with a product no existing platform addresses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>
                <a:solidFill>
                  <a:srgbClr val="B0C4DE"/>
                </a:solidFill>
                <a:latin typeface="Calibri"/>
              </a:defRPr>
            </a:pPr>
            <a:r>
              <a:rPr sz="1400">
                <a:solidFill>
                  <a:srgbClr val="F59E4F"/>
                </a:solidFill>
                <a:latin typeface="Calibri"/>
              </a:rPr>
              <a:t>▸  </a:t>
            </a:r>
            <a:r>
              <a:rPr sz="1400" b="0">
                <a:solidFill>
                  <a:srgbClr val="B0C4DE"/>
                </a:solidFill>
                <a:latin typeface="Calibri"/>
              </a:rPr>
              <a:t>Positioning leads with what is unique: </a:t>
            </a:r>
            <a:r>
              <a:rPr sz="1400" b="1">
                <a:solidFill>
                  <a:srgbClr val="B0C4DE"/>
                </a:solidFill>
                <a:latin typeface="Calibri"/>
              </a:rPr>
              <a:t>"Grow trading personalities that learn from experience"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Boundaries: What AegisTrader is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4114800" cy="38100"/>
          </a:xfrm>
          <a:prstGeom prst="rect">
            <a:avLst/>
          </a:prstGeom>
          <a:solidFill>
            <a:srgbClr val="F5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515600" cy="105156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800" cy="1051560"/>
          </a:xfrm>
          <a:prstGeom prst="rect">
            <a:avLst/>
          </a:prstGeom>
          <a:solidFill>
            <a:srgbClr val="F5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55E5E"/>
                </a:solidFill>
                <a:latin typeface="Calibri"/>
              </a:defRPr>
            </a:pPr>
            <a:r>
              <a:t>Not a brokerage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B0C4DE"/>
                </a:solidFill>
                <a:latin typeface="Calibri"/>
              </a:defRPr>
            </a:pPr>
            <a:r>
              <a:t>Does not execute real-money trades in initial versions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515600" cy="105156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50800" cy="1051560"/>
          </a:xfrm>
          <a:prstGeom prst="rect">
            <a:avLst/>
          </a:prstGeom>
          <a:solidFill>
            <a:srgbClr val="F5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971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55E5E"/>
                </a:solidFill>
                <a:latin typeface="Calibri"/>
              </a:defRPr>
            </a:pPr>
            <a:r>
              <a:t>Not financial advice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B0C4DE"/>
                </a:solidFill>
                <a:latin typeface="Calibri"/>
              </a:defRPr>
            </a:pPr>
            <a:r>
              <a:t>Clearly labeled as paper trading and research tooling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515600" cy="105156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50800" cy="1051560"/>
          </a:xfrm>
          <a:prstGeom prst="rect">
            <a:avLst/>
          </a:prstGeom>
          <a:solidFill>
            <a:srgbClr val="F5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55E5E"/>
                </a:solidFill>
                <a:latin typeface="Calibri"/>
              </a:defRPr>
            </a:pPr>
            <a:r>
              <a:t>Not an opaque AI black 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572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B0C4DE"/>
                </a:solidFill>
                <a:latin typeface="Calibri"/>
              </a:defRPr>
            </a:pPr>
            <a:r>
              <a:t>Every soul belief links to evidence. Every decision is inspectable.</a:t>
            </a:r>
            <a:br/>
            <a:r>
              <a:t>The soul is interpretation, not truth.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515600" cy="105156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50800" cy="1051560"/>
          </a:xfrm>
          <a:prstGeom prst="rect">
            <a:avLst/>
          </a:prstGeom>
          <a:solidFill>
            <a:srgbClr val="F5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440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55E5E"/>
                </a:solidFill>
                <a:latin typeface="Calibri"/>
              </a:defRPr>
            </a:pPr>
            <a:r>
              <a:t>The soul is not the source of truth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806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B0C4DE"/>
                </a:solidFill>
                <a:latin typeface="Calibri"/>
              </a:defRPr>
            </a:pPr>
            <a:r>
              <a:t>The deterministic engine is. The soul is a learned interpretation</a:t>
            </a:r>
            <a:br/>
            <a:r>
              <a:t>of truth -- derived, versioned, diffable, and replay-linked.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Phasing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4FA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1444752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800" cy="1444752"/>
          </a:xfrm>
          <a:prstGeom prst="rect">
            <a:avLst/>
          </a:prstGeom>
          <a:solidFill>
            <a:srgbClr val="4FA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444752"/>
            <a:ext cx="1188720" cy="320040"/>
          </a:xfrm>
          <a:prstGeom prst="roundRect">
            <a:avLst/>
          </a:prstGeom>
          <a:solidFill>
            <a:srgbClr val="4FA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444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4FA8F5"/>
                </a:solidFill>
                <a:latin typeface="Calibri"/>
              </a:defRPr>
            </a:pPr>
            <a:r>
              <a:t>Single-Agent Soul Evolution (MVP)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417320"/>
            <a:ext cx="56692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Aft>
                <a:spcPts val="400"/>
              </a:spcAft>
              <a:defRPr sz="1200">
                <a:solidFill>
                  <a:srgbClr val="B0C4DE"/>
                </a:solidFill>
                <a:latin typeface="Calibri"/>
              </a:defRPr>
            </a:pPr>
            <a:r>
              <a:rPr sz="1200">
                <a:solidFill>
                  <a:srgbClr val="4FA8F5"/>
                </a:solidFill>
                <a:latin typeface="Calibri"/>
              </a:rPr>
              <a:t>▸  </a:t>
            </a:r>
            <a:r>
              <a:rPr sz="1200">
                <a:solidFill>
                  <a:srgbClr val="B0C4DE"/>
                </a:solidFill>
                <a:latin typeface="Calibri"/>
              </a:rPr>
              <a:t>4 archetype trading philosophies + formative experience backtest</a:t>
            </a:r>
          </a:p>
          <a:p>
            <a:pPr>
              <a:lnSpc>
                <a:spcPts val="1439"/>
              </a:lnSpc>
              <a:spcAft>
                <a:spcPts val="400"/>
              </a:spcAft>
              <a:defRPr sz="1200">
                <a:solidFill>
                  <a:srgbClr val="B0C4DE"/>
                </a:solidFill>
                <a:latin typeface="Calibri"/>
              </a:defRPr>
            </a:pPr>
            <a:r>
              <a:rPr sz="1200">
                <a:solidFill>
                  <a:srgbClr val="4FA8F5"/>
                </a:solidFill>
                <a:latin typeface="Calibri"/>
              </a:rPr>
              <a:t>▸  </a:t>
            </a:r>
            <a:r>
              <a:rPr sz="1200">
                <a:solidFill>
                  <a:srgbClr val="B0C4DE"/>
                </a:solidFill>
                <a:latin typeface="Calibri"/>
              </a:rPr>
              <a:t>Soul diff hero screen with evidence links</a:t>
            </a:r>
          </a:p>
          <a:p>
            <a:pPr>
              <a:lnSpc>
                <a:spcPts val="1439"/>
              </a:lnSpc>
              <a:spcAft>
                <a:spcPts val="400"/>
              </a:spcAft>
              <a:defRPr sz="1200">
                <a:solidFill>
                  <a:srgbClr val="B0C4DE"/>
                </a:solidFill>
                <a:latin typeface="Calibri"/>
              </a:defRPr>
            </a:pPr>
            <a:r>
              <a:rPr sz="1200">
                <a:solidFill>
                  <a:srgbClr val="4FA8F5"/>
                </a:solidFill>
                <a:latin typeface="Calibri"/>
              </a:rPr>
              <a:t>▸  </a:t>
            </a:r>
            <a:r>
              <a:rPr sz="1200">
                <a:solidFill>
                  <a:srgbClr val="B0C4DE"/>
                </a:solidFill>
                <a:latin typeface="Calibri"/>
              </a:rPr>
              <a:t>Trauma Test counterfactual + side-by-side soul comparison</a:t>
            </a:r>
          </a:p>
          <a:p>
            <a:pPr>
              <a:lnSpc>
                <a:spcPts val="1439"/>
              </a:lnSpc>
              <a:spcAft>
                <a:spcPts val="400"/>
              </a:spcAft>
              <a:defRPr sz="1200">
                <a:solidFill>
                  <a:srgbClr val="B0C4DE"/>
                </a:solidFill>
                <a:latin typeface="Calibri"/>
              </a:defRPr>
            </a:pPr>
            <a:r>
              <a:rPr sz="1200">
                <a:solidFill>
                  <a:srgbClr val="4FA8F5"/>
                </a:solidFill>
                <a:latin typeface="Calibri"/>
              </a:rPr>
              <a:t>▸  </a:t>
            </a:r>
            <a:r>
              <a:rPr sz="1200">
                <a:solidFill>
                  <a:srgbClr val="B0C4DE"/>
                </a:solidFill>
                <a:latin typeface="Calibri"/>
              </a:rPr>
              <a:t>Passive coaching + Soul Surgery + source tagging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10515600" cy="1152144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50800" cy="115214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2999232"/>
            <a:ext cx="1188720" cy="32004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1.5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9992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Guided Coaching (NEW)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971800"/>
            <a:ext cx="56692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Aft>
                <a:spcPts val="400"/>
              </a:spcAft>
              <a:defRPr sz="1200">
                <a:solidFill>
                  <a:srgbClr val="B0C4DE"/>
                </a:solidFill>
                <a:latin typeface="Calibri"/>
              </a:defRPr>
            </a:pPr>
            <a:r>
              <a:rPr sz="1200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B0C4DE"/>
                </a:solidFill>
                <a:latin typeface="Calibri"/>
              </a:rPr>
              <a:t>Guided Reflection -- natural language coaching</a:t>
            </a:r>
          </a:p>
          <a:p>
            <a:pPr>
              <a:lnSpc>
                <a:spcPts val="1439"/>
              </a:lnSpc>
              <a:spcAft>
                <a:spcPts val="400"/>
              </a:spcAft>
              <a:defRPr sz="1200">
                <a:solidFill>
                  <a:srgbClr val="B0C4DE"/>
                </a:solidFill>
                <a:latin typeface="Calibri"/>
              </a:defRPr>
            </a:pPr>
            <a:r>
              <a:rPr sz="1200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B0C4DE"/>
                </a:solidFill>
                <a:latin typeface="Calibri"/>
              </a:rPr>
              <a:t>Challenge button on belief cards</a:t>
            </a:r>
          </a:p>
          <a:p>
            <a:pPr>
              <a:lnSpc>
                <a:spcPts val="1439"/>
              </a:lnSpc>
              <a:spcAft>
                <a:spcPts val="400"/>
              </a:spcAft>
              <a:defRPr sz="1200">
                <a:solidFill>
                  <a:srgbClr val="B0C4DE"/>
                </a:solidFill>
                <a:latin typeface="Calibri"/>
              </a:defRPr>
            </a:pPr>
            <a:r>
              <a:rPr sz="1200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B0C4DE"/>
                </a:solidFill>
                <a:latin typeface="Calibri"/>
              </a:rPr>
              <a:t>Enhanced Soul Studio layout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87952"/>
            <a:ext cx="10515600" cy="859536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187952"/>
            <a:ext cx="50800" cy="859536"/>
          </a:xfrm>
          <a:prstGeom prst="rect">
            <a:avLst/>
          </a:prstGeom>
          <a:solidFill>
            <a:srgbClr val="A87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4261104"/>
            <a:ext cx="1188720" cy="320040"/>
          </a:xfrm>
          <a:prstGeom prst="roundRect">
            <a:avLst/>
          </a:prstGeom>
          <a:solidFill>
            <a:srgbClr val="A87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2611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A87CF5"/>
                </a:solidFill>
                <a:latin typeface="Calibri"/>
              </a:defRPr>
            </a:pPr>
            <a:r>
              <a:t>Multi-Agent Competition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233672"/>
            <a:ext cx="566928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Aft>
                <a:spcPts val="400"/>
              </a:spcAft>
              <a:defRPr sz="1200">
                <a:solidFill>
                  <a:srgbClr val="B0C4DE"/>
                </a:solidFill>
                <a:latin typeface="Calibri"/>
              </a:defRPr>
            </a:pPr>
            <a:r>
              <a:rPr sz="1200">
                <a:solidFill>
                  <a:srgbClr val="A87CF5"/>
                </a:solidFill>
                <a:latin typeface="Calibri"/>
              </a:rPr>
              <a:t>▸  </a:t>
            </a:r>
            <a:r>
              <a:rPr sz="1200">
                <a:solidFill>
                  <a:srgbClr val="B0C4DE"/>
                </a:solidFill>
                <a:latin typeface="Calibri"/>
              </a:rPr>
              <a:t>As defined in PRD + coaching effectiveness tracking</a:t>
            </a:r>
          </a:p>
          <a:p>
            <a:pPr>
              <a:lnSpc>
                <a:spcPts val="1439"/>
              </a:lnSpc>
              <a:spcAft>
                <a:spcPts val="400"/>
              </a:spcAft>
              <a:defRPr sz="1200">
                <a:solidFill>
                  <a:srgbClr val="B0C4DE"/>
                </a:solidFill>
                <a:latin typeface="Calibri"/>
              </a:defRPr>
            </a:pPr>
            <a:r>
              <a:rPr sz="1200">
                <a:solidFill>
                  <a:srgbClr val="A87CF5"/>
                </a:solidFill>
                <a:latin typeface="Calibri"/>
              </a:rPr>
              <a:t>▸  </a:t>
            </a:r>
            <a:r>
              <a:rPr sz="1200">
                <a:solidFill>
                  <a:srgbClr val="B0C4DE"/>
                </a:solidFill>
                <a:latin typeface="Calibri"/>
              </a:rPr>
              <a:t>Per-agent soul comparison across agents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157216"/>
            <a:ext cx="10515600" cy="859536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157216"/>
            <a:ext cx="50800" cy="859536"/>
          </a:xfrm>
          <a:prstGeom prst="rect">
            <a:avLst/>
          </a:prstGeom>
          <a:solidFill>
            <a:srgbClr val="F5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5230368"/>
            <a:ext cx="1188720" cy="320040"/>
          </a:xfrm>
          <a:prstGeom prst="roundRect">
            <a:avLst/>
          </a:prstGeom>
          <a:solidFill>
            <a:srgbClr val="F5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230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59E4F"/>
                </a:solidFill>
                <a:latin typeface="Calibri"/>
              </a:defRPr>
            </a:pPr>
            <a:r>
              <a:t>Live Paper Trading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5202936"/>
            <a:ext cx="566928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Aft>
                <a:spcPts val="400"/>
              </a:spcAft>
              <a:defRPr sz="1200">
                <a:solidFill>
                  <a:srgbClr val="B0C4DE"/>
                </a:solidFill>
                <a:latin typeface="Calibri"/>
              </a:defRPr>
            </a:pPr>
            <a:r>
              <a:rPr sz="1200">
                <a:solidFill>
                  <a:srgbClr val="F59E4F"/>
                </a:solidFill>
                <a:latin typeface="Calibri"/>
              </a:rPr>
              <a:t>▸  </a:t>
            </a:r>
            <a:r>
              <a:rPr sz="1200">
                <a:solidFill>
                  <a:srgbClr val="B0C4DE"/>
                </a:solidFill>
                <a:latin typeface="Calibri"/>
              </a:rPr>
              <a:t>Live soul updates with coaching review before commit</a:t>
            </a:r>
          </a:p>
          <a:p>
            <a:pPr>
              <a:lnSpc>
                <a:spcPts val="1439"/>
              </a:lnSpc>
              <a:spcAft>
                <a:spcPts val="400"/>
              </a:spcAft>
              <a:defRPr sz="1200">
                <a:solidFill>
                  <a:srgbClr val="B0C4DE"/>
                </a:solidFill>
                <a:latin typeface="Calibri"/>
              </a:defRPr>
            </a:pPr>
            <a:r>
              <a:rPr sz="1200">
                <a:solidFill>
                  <a:srgbClr val="F59E4F"/>
                </a:solidFill>
                <a:latin typeface="Calibri"/>
              </a:rPr>
              <a:t>▸  </a:t>
            </a:r>
            <a:r>
              <a:rPr sz="1200">
                <a:solidFill>
                  <a:srgbClr val="B0C4DE"/>
                </a:solidFill>
                <a:latin typeface="Calibri"/>
              </a:rPr>
              <a:t>Coaching effectiveness dashboard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126480"/>
            <a:ext cx="10515600" cy="1152144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6126480"/>
            <a:ext cx="50800" cy="1152144"/>
          </a:xfrm>
          <a:prstGeom prst="rect">
            <a:avLst/>
          </a:prstGeom>
          <a:solidFill>
            <a:srgbClr val="7B9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5840" y="6199632"/>
            <a:ext cx="1188720" cy="320040"/>
          </a:xfrm>
          <a:prstGeom prst="roundRect">
            <a:avLst/>
          </a:prstGeom>
          <a:solidFill>
            <a:srgbClr val="7B9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6199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7B93B3"/>
                </a:solidFill>
                <a:latin typeface="Calibri"/>
              </a:defRPr>
            </a:pPr>
            <a:r>
              <a:t>Governance &amp; Advanced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6172200"/>
            <a:ext cx="56692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Aft>
                <a:spcPts val="400"/>
              </a:spcAft>
              <a:defRPr sz="1200">
                <a:solidFill>
                  <a:srgbClr val="B0C4DE"/>
                </a:solidFill>
                <a:latin typeface="Calibri"/>
              </a:defRPr>
            </a:pPr>
            <a:r>
              <a:rPr sz="1200">
                <a:solidFill>
                  <a:srgbClr val="7B93B3"/>
                </a:solidFill>
                <a:latin typeface="Calibri"/>
              </a:rPr>
              <a:t>▸  </a:t>
            </a:r>
            <a:r>
              <a:rPr sz="1200">
                <a:solidFill>
                  <a:srgbClr val="B0C4DE"/>
                </a:solidFill>
                <a:latin typeface="Calibri"/>
              </a:rPr>
              <a:t>Selective Amnesia counterfactual</a:t>
            </a:r>
          </a:p>
          <a:p>
            <a:pPr>
              <a:lnSpc>
                <a:spcPts val="1439"/>
              </a:lnSpc>
              <a:spcAft>
                <a:spcPts val="400"/>
              </a:spcAft>
              <a:defRPr sz="1200">
                <a:solidFill>
                  <a:srgbClr val="B0C4DE"/>
                </a:solidFill>
                <a:latin typeface="Calibri"/>
              </a:defRPr>
            </a:pPr>
            <a:r>
              <a:rPr sz="1200">
                <a:solidFill>
                  <a:srgbClr val="7B93B3"/>
                </a:solidFill>
                <a:latin typeface="Calibri"/>
              </a:rPr>
              <a:t>▸  </a:t>
            </a:r>
            <a:r>
              <a:rPr sz="1200">
                <a:solidFill>
                  <a:srgbClr val="B0C4DE"/>
                </a:solidFill>
                <a:latin typeface="Calibri"/>
              </a:rPr>
              <a:t>Full coaching effectiveness analytics</a:t>
            </a:r>
          </a:p>
          <a:p>
            <a:pPr>
              <a:lnSpc>
                <a:spcPts val="1439"/>
              </a:lnSpc>
              <a:spcAft>
                <a:spcPts val="400"/>
              </a:spcAft>
              <a:defRPr sz="1200">
                <a:solidFill>
                  <a:srgbClr val="B0C4DE"/>
                </a:solidFill>
                <a:latin typeface="Calibri"/>
              </a:defRPr>
            </a:pPr>
            <a:r>
              <a:rPr sz="1200">
                <a:solidFill>
                  <a:srgbClr val="7B93B3"/>
                </a:solidFill>
                <a:latin typeface="Calibri"/>
              </a:rPr>
              <a:t>▸  </a:t>
            </a:r>
            <a:r>
              <a:rPr sz="1200">
                <a:solidFill>
                  <a:srgbClr val="B0C4DE"/>
                </a:solidFill>
                <a:latin typeface="Calibri"/>
              </a:rPr>
              <a:t>Evaluate: Adversarial Soul Dynamics based on user demand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Open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38100"/>
          </a:xfrm>
          <a:prstGeom prst="rect">
            <a:avLst/>
          </a:prstGeom>
          <a:solidFill>
            <a:srgbClr val="F5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36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59E4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361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59E4F"/>
                </a:solidFill>
                <a:latin typeface="Calibri"/>
              </a:defRPr>
            </a:pPr>
            <a:r>
              <a:t>LLM Non-Determinism in Counterfactuals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74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How many runs needed to establish stable soul divergences? What threshold for surfacing a difference as real vs noise?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10515600" cy="91440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420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59E4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42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59E4F"/>
                </a:solidFill>
                <a:latin typeface="Calibri"/>
              </a:defRPr>
            </a:pPr>
            <a:r>
              <a:t>Guided Reflection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80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Can LLMs reliably integrate vague coaching ("you're too cautious") into coherent soul updates?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478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59E4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478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59E4F"/>
                </a:solidFill>
                <a:latin typeface="Calibri"/>
              </a:defRPr>
            </a:pPr>
            <a:r>
              <a:t>Soul Timeline Noise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86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After 20+ runs, the timeline will be dense. What summarization and grouping strategies keep it usable?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80560"/>
            <a:ext cx="10515600" cy="91440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537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59E4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5537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59E4F"/>
                </a:solidFill>
                <a:latin typeface="Calibri"/>
              </a:defRPr>
            </a:pPr>
            <a:r>
              <a:t>Archetype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892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Who designs seed strategy.md + soul.md for each archetype? These must be genuinely viable strategies.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solidFill>
            <a:srgbClr val="10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5595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59E4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5595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59E4F"/>
                </a:solidFill>
                <a:latin typeface="Calibri"/>
              </a:defRPr>
            </a:pPr>
            <a:r>
              <a:t>Coaching Effectiveness Validity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897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B0C4DE"/>
                </a:solidFill>
                <a:latin typeface="Calibri"/>
              </a:defRPr>
            </a:pPr>
            <a:r>
              <a:t>How much run history needed before coaching effectiveness metrics are statistically meaningful?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AegisTrader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743200"/>
            <a:ext cx="210312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4FA8F5"/>
                </a:solidFill>
                <a:latin typeface="Calibri"/>
              </a:defRPr>
            </a:pPr>
            <a:r>
              <a:t>Choose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B0C4DE"/>
                </a:solidFill>
                <a:latin typeface="Calibri"/>
              </a:defRPr>
            </a:pPr>
            <a:r>
              <a:t>a personality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0D4AA"/>
                </a:solidFill>
                <a:latin typeface="Calibri"/>
              </a:defRPr>
            </a:pPr>
            <a:r>
              <a:t>Grow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749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B0C4DE"/>
                </a:solidFill>
                <a:latin typeface="Calibri"/>
              </a:defRPr>
            </a:pPr>
            <a:r>
              <a:t>it through experimentation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A87CF5"/>
                </a:solidFill>
                <a:latin typeface="Calibri"/>
              </a:defRPr>
            </a:pPr>
            <a:r>
              <a:t>Coach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749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B0C4DE"/>
                </a:solidFill>
                <a:latin typeface="Calibri"/>
              </a:defRPr>
            </a:pPr>
            <a:r>
              <a:t>it to improve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D4AA"/>
                </a:solidFill>
                <a:latin typeface="Calibri"/>
              </a:defRPr>
            </a:pPr>
            <a:r>
              <a:t>"Soul powered by backtest."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B93B3"/>
                </a:solidFill>
                <a:latin typeface="Calibri"/>
              </a:defRPr>
            </a:pPr>
            <a:r>
              <a:t>Ideation Session  |  March 8, 2026  |  Project AegisTrader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